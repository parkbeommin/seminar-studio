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덩어리로 간다. 앞의 두 덩어리는 왜 프레임을 바꿔야 하는지, 뒤의 두 덩어리는 그래서 무엇부터 하는지에 대한 이야기다. 결론을 먼저 말하면, AI 네이티브 컴퍼니는 도구를 늘려서가 아니라 기록을 쌓아서 만들어진다.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콘텐츠의 대부분은 어떤 도구를 어떻게 써서 내 일을 빨리 끝내느냐에 몰려 있다. 활용법을 익히는 것 자체는 나쁘지 않지만, 그 전부가 'AI는 나를 옆에서 돕는 코파일럿'이라는 하나의 전제 위에 서 있다. 오늘 하려는 이야기는 그 전제를 한 번 의심해 보자는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노션 코리아 행사에서 본 장표의 내용이다. 단계를 나열하면 대부분은 '사고 파트너'와 '비서' 언저리에 멈춰 있고, 그 앞에 팀원으로서의 에이전틱 AI가 있고, 다시 그 앞에 시스템으로서의 AI가 있다. 코파일럿은 첫 계단이지 목적지가 아니라는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AI를 보조도구가 아니라 오퍼레이션의 중심에 둔 회사들이 이미 있다. 온라인 교육사 지피터스는 랜딩페이지 제작부터 줌 녹화 처리, 수강생 SMS 푸시까지 과정 운영 전체에 AI를 앞세웠다. VC인 델타 소사이어티는 조직의 뇌를 하나의 단일 진실 공급원으로 두고 거기에 코딩 에이전트를 붙였다. 도구를 몇 개 도입한 것이 아니라 일하는 구조 자체를 AI 위에 올린 사례다.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트위터를 만든 잭 도시의 표현이다. 그가 이끄는 블록은 대규모 감원을 단행하면서 인원이 아니라 지능 밀도를 기준으로 조직을 다시 짜겠다는 논리를 내세웠다. 사람을 줄인 사건으로만 보면 요점을 놓친다. 회사를 사람의 집합으로 보던 가정이 흔들리고 있다는 신호로 읽어야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회의도 강연도 문서도 결국 기록으로 남는다. 그 기록이 한곳에 쌓이고 AI가 전부를 읽을 수 있으면, 회사는 어제보다 더 많은 정보를 가지고 오늘의 판단을 한다. 이 구조가 돌기 시작하면 사람이 매번 개입하지 않아도 회사가 매일 조금씩 나아진다. 그래서 회사라고 부르는 존재의 실체는 사무실도 조직도도 아니고 중앙에 쌓인 데이터다. AI 시대의 진짜 과제는 그 중앙 시스템을 얼마나 잘 만드느냐가 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직무가 사라지는 것이 아니라 세 갈래로 모인다. 만드는 사람, 그 일에 책임을 지는 사람, 그리고 역설적이지만 앞으로 가장 빠르게 부상할 보안·거버넌스 관리자다. 이해가 잘 안 되면 이 장면을 떠올리면 된다. 사내 에이전트에게 누군가 대표 연봉이 얼마냐고 묻는다. 데이터를 다 읽는 에이전트는 답할 수 있다. 답하면 안 된다. 그 경계를 설계하고 지키는 조직이 반드시 필요해진다.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Y컴비네이터는 이것을 'Build a queryable company'라는 문장으로 정리했다. PPT든 엑셀이든 회의록이든 대화든 회사의 모든 산출물을 AI가 질의할 수 있는 상태로 만들라는 것이다. 그렇게 되면 회사는 스스로를 개선한다. 어떤 도구를 도입할지가 아니라 무엇을 어떻게 남길지가 먼저다.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단계는 맥락을 한곳에 모으는 일이다. 지메일과 노션에 흩어져 있던 과거 데이터를 에이전트에 전부 넣고, 같은 내용을 RAG로도 적재해 질의가 가능하게 만들었다. 그다음 슬랙·노션·ERP를 한 서버로 붙였다. 이 단계를 지나면 에이전트가 별도 화면이 아니라 사람들이 이미 쓰는 슬랙 안에서 일하게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과거 데이터를 넣는 것으로는 부족하다. 오늘의 기록이 매일 새로 들어와야 시스템이 살아 있다. 그래서 없어도 될 조간 회의를 일부러 만들었다. 각자 무엇을 하고 있고 어디서 막혀 있는지를 매일 이야기하고, 그 회의록을 슬랙에 올려 마크다운과 RAG 양쪽으로 저장한다. 표현하자면 사람이 오히려 AI를 위해 일하는 셈인데, 이 공급이 끊기면 중앙 시스템은 그날부터 낡기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 매뉴얼을 사람이 분기마다 손보는 방식으로는 조직의 뇌가 유지되지 않는다. SOP 문서를 AI가 매일 갱신하게 하고, 클라이언트별·도메인별·업무별 문서는 하루 한 번 크론으로 돌린다. 데이터가 쌓인 다음에 할 일은 결과물의 품질을 다듬는 것이다. 하네스를 세팅하고 프롬프트를 정비하면 B2B에서 수시로 요구받는 회사소개서 PDF, 홈페이지, 뉴스레터, 세일즈 이메일이 매일 최신 상태로 다시 만들어진다.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기록 시스템이 돌기 시작하면 그다음 벽은 통제다. 어떤 모델을 쓸 것인가, 그 모델에 회사 정보를 어디까지 줘도 되는가. 이 질문에 답을 못 한 채 불안과 포모가 함께 커지는 것이 지금의 상황이다. AI 내규와 윤리 기준, 산출물 평가 기준, 그리고 토큰 비용까지 한 사람이 묶어서 관리하는 통합 거버넌스 매니저는 앞으로 가장 유망한 직무 중 하나가 될 것이다.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도구가 평준화되면 실행력의 차이는 줄어든다. 남는 것은 의도다. 좋은 쪽으로도 그렇고 나쁜 쪽으로도 그렇다. 구성원 한 명이 회사 데이터를 빼내겠다고 마음먹으면, 방법은 이제 본인이 몰라도 된다. AI가 찾아준다. 무엇을 하려 했는지를 기록하고 감사하고 통제하는 체계가 없으면 나머지 자동화는 위험 요소가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안드레이 카파시 같은 최전선의 인물조차 버겁다고, 뒤처지고 있다고 말한다. 그러니 따라가기 벅찬 감각은 특정한 누구의 문제가 아니다. 남세종 대표의 표현을 빌리면 필생즉사 필사즉생이다. 살려고만 하면 죽고 죽기를 각오하면 산다. 지켜야 할 것은 지금까지의 방식이 아니라 앞으로의 자리다. 레거시가 된 자신을 먼저 죽이는 쪽이 살아남는다.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19456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560320"/>
            <a:ext cx="10515600" cy="1463040"/>
          </a:xfrm>
          <a:prstGeom prst="rect">
            <a:avLst/>
          </a:prstGeom>
          <a:noFill/>
        </p:spPr>
        <p:txBody>
          <a:bodyPr wrap="square" anchor="t">
            <a:spAutoFit/>
          </a:bodyPr>
          <a:lstStyle/>
          <a:p>
            <a:pPr algn="l"/>
            <a:r>
              <a:rPr sz="4400" b="1">
                <a:solidFill>
                  <a:srgbClr val="16181D"/>
                </a:solidFill>
                <a:latin typeface="Pretendard"/>
              </a:rPr>
              <a:t>기록 시스템에서 시작하는 AI 네이티브 컴퍼니</a:t>
            </a:r>
          </a:p>
        </p:txBody>
      </p:sp>
      <p:sp>
        <p:nvSpPr>
          <p:cNvPr id="4" name="TextBox 3"/>
          <p:cNvSpPr txBox="1"/>
          <p:nvPr/>
        </p:nvSpPr>
        <p:spPr>
          <a:xfrm>
            <a:off x="822960" y="4114800"/>
            <a:ext cx="9601200" cy="1097280"/>
          </a:xfrm>
          <a:prstGeom prst="rect">
            <a:avLst/>
          </a:prstGeom>
          <a:noFill/>
        </p:spPr>
        <p:txBody>
          <a:bodyPr wrap="square" anchor="t">
            <a:spAutoFit/>
          </a:bodyPr>
          <a:lstStyle/>
          <a:p>
            <a:pPr algn="l"/>
            <a:r>
              <a:rPr sz="2000" b="0">
                <a:solidFill>
                  <a:srgbClr val="4A4F5A"/>
                </a:solidFill>
                <a:latin typeface="Pretendard"/>
              </a:rPr>
              <a:t>회사의 실체는 중앙에 쌓인 데이터다. 전환은 도구 도입이 아니라 기록 시스템 구축에서 시작한다</a:t>
            </a:r>
          </a:p>
        </p:txBody>
      </p:sp>
      <p:sp>
        <p:nvSpPr>
          <p:cNvPr id="5" name="TextBox 4"/>
          <p:cNvSpPr txBox="1"/>
          <p:nvPr/>
        </p:nvSpPr>
        <p:spPr>
          <a:xfrm>
            <a:off x="822960" y="5669280"/>
            <a:ext cx="9601200" cy="548640"/>
          </a:xfrm>
          <a:prstGeom prst="rect">
            <a:avLst/>
          </a:prstGeom>
          <a:noFill/>
        </p:spPr>
        <p:txBody>
          <a:bodyPr wrap="square" anchor="t">
            <a:spAutoFit/>
          </a:bodyPr>
          <a:lstStyle/>
          <a:p>
            <a:pPr algn="l"/>
            <a:r>
              <a:rPr sz="1400" b="0">
                <a:solidFill>
                  <a:srgbClr val="4A4F5A"/>
                </a:solidFill>
                <a:latin typeface="Pretendard"/>
              </a:rPr>
              <a:t>김승권 (활동명 빌더 조슈) · 조슈아의컴퍼니 대표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오늘의 순서</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코파일럿 프레임의 한계</a:t>
            </a:r>
          </a:p>
          <a:p>
            <a:pPr>
              <a:spcAft>
                <a:spcPts val="1400"/>
              </a:spcAft>
            </a:pPr>
            <a:r>
              <a:rPr sz="1900">
                <a:solidFill>
                  <a:srgbClr val="4A4F5A"/>
                </a:solidFill>
                <a:latin typeface="Pretendard"/>
              </a:rPr>
              <a:t>· 회사의 실체는 중앙 데이터</a:t>
            </a:r>
          </a:p>
          <a:p>
            <a:pPr>
              <a:spcAft>
                <a:spcPts val="1400"/>
              </a:spcAft>
            </a:pPr>
            <a:r>
              <a:rPr sz="1900">
                <a:solidFill>
                  <a:srgbClr val="4A4F5A"/>
                </a:solidFill>
                <a:latin typeface="Pretendard"/>
              </a:rPr>
              <a:t>· 기록 시스템을 만든 순서</a:t>
            </a:r>
          </a:p>
          <a:p>
            <a:pPr>
              <a:spcAft>
                <a:spcPts val="1400"/>
              </a:spcAft>
            </a:pPr>
            <a:r>
              <a:rPr sz="1900">
                <a:solidFill>
                  <a:srgbClr val="4A4F5A"/>
                </a:solidFill>
                <a:latin typeface="Pretendard"/>
              </a:rPr>
              <a:t>· 다음 관문, 거버넌스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우리는 AI를 생산성 도구로만 해석하고 있다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노트북LM·젠스파크 활용법이 대세</a:t>
            </a:r>
          </a:p>
          <a:p>
            <a:pPr>
              <a:spcAft>
                <a:spcPts val="1400"/>
              </a:spcAft>
            </a:pPr>
            <a:r>
              <a:rPr sz="1900">
                <a:solidFill>
                  <a:srgbClr val="4A4F5A"/>
                </a:solidFill>
                <a:latin typeface="Pretendard"/>
              </a:rPr>
              <a:t>· AI는 나를 돕는 코파일럿이라는 전제</a:t>
            </a:r>
          </a:p>
          <a:p>
            <a:pPr>
              <a:spcAft>
                <a:spcPts val="1400"/>
              </a:spcAft>
            </a:pPr>
            <a:r>
              <a:rPr sz="1900">
                <a:solidFill>
                  <a:srgbClr val="4A4F5A"/>
                </a:solidFill>
                <a:latin typeface="Pretendard"/>
              </a:rPr>
              <a:t>· 먼저 물을 것은 그 전제가 맞는가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194560"/>
            <a:ext cx="63500" cy="237744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601200" cy="2194560"/>
          </a:xfrm>
          <a:prstGeom prst="rect">
            <a:avLst/>
          </a:prstGeom>
          <a:noFill/>
        </p:spPr>
        <p:txBody>
          <a:bodyPr wrap="square" anchor="t">
            <a:spAutoFit/>
          </a:bodyPr>
          <a:lstStyle/>
          <a:p>
            <a:pPr algn="l"/>
            <a:r>
              <a:rPr sz="2600" b="0">
                <a:solidFill>
                  <a:srgbClr val="16181D"/>
                </a:solidFill>
                <a:latin typeface="Pretendard"/>
              </a:rPr>
              <a:t>“그런데 대부분은 지금 저기까지만 하고 있고 팀원으로서의 에이전틱한 AI 그리고 시스템으로서의 AI가 지금 많은 기업들과 모든 세상이 향하는 방향이다라는 것을 말씀해 주셨습니다.”</a:t>
            </a:r>
          </a:p>
        </p:txBody>
      </p:sp>
      <p:sp>
        <p:nvSpPr>
          <p:cNvPr id="4" name="TextBox 3"/>
          <p:cNvSpPr txBox="1"/>
          <p:nvPr/>
        </p:nvSpPr>
        <p:spPr>
          <a:xfrm>
            <a:off x="1371600" y="4754880"/>
            <a:ext cx="9601200" cy="548640"/>
          </a:xfrm>
          <a:prstGeom prst="rect">
            <a:avLst/>
          </a:prstGeom>
          <a:noFill/>
        </p:spPr>
        <p:txBody>
          <a:bodyPr wrap="square" anchor="t">
            <a:spAutoFit/>
          </a:bodyPr>
          <a:lstStyle/>
          <a:p>
            <a:pPr algn="l"/>
            <a:r>
              <a:rPr sz="1500" b="0">
                <a:solidFill>
                  <a:srgbClr val="4A4F5A"/>
                </a:solidFill>
                <a:latin typeface="Pretendard"/>
              </a:rPr>
              <a:t>— 노션 코리아 지사장의 장표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AI를 핵심 오퍼레이션으로 쓰는 회사가 이미 있다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지피터스: 교육 전 과정에 AI 전진 배치</a:t>
            </a:r>
          </a:p>
          <a:p>
            <a:pPr>
              <a:spcAft>
                <a:spcPts val="1400"/>
              </a:spcAft>
            </a:pPr>
            <a:r>
              <a:rPr sz="1900">
                <a:solidFill>
                  <a:srgbClr val="4A4F5A"/>
                </a:solidFill>
                <a:latin typeface="Pretendard"/>
              </a:rPr>
              <a:t>· 랜딩페이지·줌 녹화·SMS 푸시까지</a:t>
            </a:r>
          </a:p>
          <a:p>
            <a:pPr>
              <a:spcAft>
                <a:spcPts val="1400"/>
              </a:spcAft>
            </a:pPr>
            <a:r>
              <a:rPr sz="1900">
                <a:solidFill>
                  <a:srgbClr val="4A4F5A"/>
                </a:solidFill>
                <a:latin typeface="Pretendard"/>
              </a:rPr>
              <a:t>· 델타 소사이어티: 조직의 뇌를 SSOT로</a:t>
            </a:r>
          </a:p>
          <a:p>
            <a:pPr>
              <a:spcAft>
                <a:spcPts val="1400"/>
              </a:spcAft>
            </a:pPr>
            <a:r>
              <a:rPr sz="1900">
                <a:solidFill>
                  <a:srgbClr val="4A4F5A"/>
                </a:solidFill>
                <a:latin typeface="Pretendard"/>
              </a:rPr>
              <a:t>· 그 위에 코딩 에이전트를 연결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194560"/>
            <a:ext cx="63500" cy="237744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601200" cy="2194560"/>
          </a:xfrm>
          <a:prstGeom prst="rect">
            <a:avLst/>
          </a:prstGeom>
          <a:noFill/>
        </p:spPr>
        <p:txBody>
          <a:bodyPr wrap="square" anchor="t">
            <a:spAutoFit/>
          </a:bodyPr>
          <a:lstStyle/>
          <a:p>
            <a:pPr algn="l"/>
            <a:r>
              <a:rPr sz="2600" b="0">
                <a:solidFill>
                  <a:srgbClr val="16181D"/>
                </a:solidFill>
                <a:latin typeface="Pretendard"/>
              </a:rPr>
              <a:t>“AI는 회사라는 가정 자체를 깨버린다.”</a:t>
            </a:r>
          </a:p>
        </p:txBody>
      </p:sp>
      <p:sp>
        <p:nvSpPr>
          <p:cNvPr id="4" name="TextBox 3"/>
          <p:cNvSpPr txBox="1"/>
          <p:nvPr/>
        </p:nvSpPr>
        <p:spPr>
          <a:xfrm>
            <a:off x="1371600" y="4754880"/>
            <a:ext cx="9601200" cy="548640"/>
          </a:xfrm>
          <a:prstGeom prst="rect">
            <a:avLst/>
          </a:prstGeom>
          <a:noFill/>
        </p:spPr>
        <p:txBody>
          <a:bodyPr wrap="square" anchor="t">
            <a:spAutoFit/>
          </a:bodyPr>
          <a:lstStyle/>
          <a:p>
            <a:pPr algn="l"/>
            <a:r>
              <a:rPr sz="1500" b="0">
                <a:solidFill>
                  <a:srgbClr val="4A4F5A"/>
                </a:solidFill>
                <a:latin typeface="Pretendard"/>
              </a:rPr>
              <a:t>— 잭 도시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92608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91840"/>
            <a:ext cx="10515600" cy="1280160"/>
          </a:xfrm>
          <a:prstGeom prst="rect">
            <a:avLst/>
          </a:prstGeom>
          <a:noFill/>
        </p:spPr>
        <p:txBody>
          <a:bodyPr wrap="square" anchor="t">
            <a:spAutoFit/>
          </a:bodyPr>
          <a:lstStyle/>
          <a:p>
            <a:pPr algn="l"/>
            <a:r>
              <a:rPr sz="3400" b="1">
                <a:solidFill>
                  <a:srgbClr val="16181D"/>
                </a:solidFill>
                <a:latin typeface="Pretendard"/>
              </a:rPr>
              <a:t>회사의 실체는 중앙에 쌓인 데이터다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기록이 쌓일수록 회사는 매일 스스로 나아진다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회의·강연·산출물이 전부 기록으로</a:t>
            </a:r>
          </a:p>
          <a:p>
            <a:pPr>
              <a:spcAft>
                <a:spcPts val="1400"/>
              </a:spcAft>
            </a:pPr>
            <a:r>
              <a:rPr sz="1900">
                <a:solidFill>
                  <a:srgbClr val="4A4F5A"/>
                </a:solidFill>
                <a:latin typeface="Pretendard"/>
              </a:rPr>
              <a:t>· 쌓일수록 판단과 정보량이 는다</a:t>
            </a:r>
          </a:p>
          <a:p>
            <a:pPr>
              <a:spcAft>
                <a:spcPts val="1400"/>
              </a:spcAft>
            </a:pPr>
            <a:r>
              <a:rPr sz="1900">
                <a:solidFill>
                  <a:srgbClr val="4A4F5A"/>
                </a:solidFill>
                <a:latin typeface="Pretendard"/>
              </a:rPr>
              <a:t>· AI를 모든 정보 흐름의 중심에 둔다</a:t>
            </a:r>
          </a:p>
          <a:p>
            <a:pPr>
              <a:spcAft>
                <a:spcPts val="1400"/>
              </a:spcAft>
            </a:pPr>
            <a:r>
              <a:rPr sz="1900">
                <a:solidFill>
                  <a:srgbClr val="4A4F5A"/>
                </a:solidFill>
                <a:latin typeface="Pretendard"/>
              </a:rPr>
              <a:t>· 과제는 그 중앙 시스템을 잘 만드는 것</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역할은 빌더·책임자·거버넌스 셋으로 재편된다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만드는 사람 — 바이브 코딩하는 빌더</a:t>
            </a:r>
          </a:p>
          <a:p>
            <a:pPr>
              <a:spcAft>
                <a:spcPts val="1400"/>
              </a:spcAft>
            </a:pPr>
            <a:r>
              <a:rPr sz="1900">
                <a:solidFill>
                  <a:srgbClr val="4A4F5A"/>
                </a:solidFill>
                <a:latin typeface="Pretendard"/>
              </a:rPr>
              <a:t>· 책임지는 사람 — 결과를 떠안는 자리</a:t>
            </a:r>
          </a:p>
          <a:p>
            <a:pPr>
              <a:spcAft>
                <a:spcPts val="1400"/>
              </a:spcAft>
            </a:pPr>
            <a:r>
              <a:rPr sz="1900">
                <a:solidFill>
                  <a:srgbClr val="4A4F5A"/>
                </a:solidFill>
                <a:latin typeface="Pretendard"/>
              </a:rPr>
              <a:t>· 지키는 사람 — 보안·거버넌스 관리자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194560"/>
            <a:ext cx="63500" cy="237744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601200" cy="2194560"/>
          </a:xfrm>
          <a:prstGeom prst="rect">
            <a:avLst/>
          </a:prstGeom>
          <a:noFill/>
        </p:spPr>
        <p:txBody>
          <a:bodyPr wrap="square" anchor="t">
            <a:spAutoFit/>
          </a:bodyPr>
          <a:lstStyle/>
          <a:p>
            <a:pPr algn="l"/>
            <a:r>
              <a:rPr sz="2600" b="0">
                <a:solidFill>
                  <a:srgbClr val="16181D"/>
                </a:solidFill>
                <a:latin typeface="Pretendard"/>
              </a:rPr>
              <a:t>“AI 네이티브 컴퍼니는 기록 시스템으로부터 출발을 합니다.”</a:t>
            </a:r>
          </a:p>
        </p:txBody>
      </p:sp>
      <p:sp>
        <p:nvSpPr>
          <p:cNvPr id="4" name="TextBox 3"/>
          <p:cNvSpPr txBox="1"/>
          <p:nvPr/>
        </p:nvSpPr>
        <p:spPr>
          <a:xfrm>
            <a:off x="1371600" y="4754880"/>
            <a:ext cx="9601200" cy="548640"/>
          </a:xfrm>
          <a:prstGeom prst="rect">
            <a:avLst/>
          </a:prstGeom>
          <a:noFill/>
        </p:spPr>
        <p:txBody>
          <a:bodyPr wrap="square" anchor="t">
            <a:spAutoFit/>
          </a:bodyPr>
          <a:lstStyle/>
          <a:p>
            <a:pPr algn="l"/>
            <a:r>
              <a:rPr sz="1500" b="0">
                <a:solidFill>
                  <a:srgbClr val="4A4F5A"/>
                </a:solidFill>
                <a:latin typeface="Pretendard"/>
              </a:rPr>
              <a:t>— 김승권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292608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291840"/>
            <a:ext cx="10515600" cy="1280160"/>
          </a:xfrm>
          <a:prstGeom prst="rect">
            <a:avLst/>
          </a:prstGeom>
          <a:noFill/>
        </p:spPr>
        <p:txBody>
          <a:bodyPr wrap="square" anchor="t">
            <a:spAutoFit/>
          </a:bodyPr>
          <a:lstStyle/>
          <a:p>
            <a:pPr algn="l"/>
            <a:r>
              <a:rPr sz="3400" b="1">
                <a:solidFill>
                  <a:srgbClr val="16181D"/>
                </a:solidFill>
                <a:latin typeface="Pretendard"/>
              </a:rPr>
              <a:t>기록 시스템은 이렇게 만든다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먼저 맥락 허브를 만들고 도구를 한곳에 모은다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지메일·노션 등 과거 데이터를 전량 적재</a:t>
            </a:r>
          </a:p>
          <a:p>
            <a:pPr>
              <a:spcAft>
                <a:spcPts val="1400"/>
              </a:spcAft>
            </a:pPr>
            <a:r>
              <a:rPr sz="1900">
                <a:solidFill>
                  <a:srgbClr val="4A4F5A"/>
                </a:solidFill>
                <a:latin typeface="Pretendard"/>
              </a:rPr>
              <a:t>· RAG로도 함께 넣어 검색 가능하게</a:t>
            </a:r>
          </a:p>
          <a:p>
            <a:pPr>
              <a:spcAft>
                <a:spcPts val="1400"/>
              </a:spcAft>
            </a:pPr>
            <a:r>
              <a:rPr sz="1900">
                <a:solidFill>
                  <a:srgbClr val="4A4F5A"/>
                </a:solidFill>
                <a:latin typeface="Pretendard"/>
              </a:rPr>
              <a:t>· 슬랙·노션·ERP를 한 서버로 통합</a:t>
            </a:r>
          </a:p>
          <a:p>
            <a:pPr>
              <a:spcAft>
                <a:spcPts val="1400"/>
              </a:spcAft>
            </a:pPr>
            <a:r>
              <a:rPr sz="1900">
                <a:solidFill>
                  <a:srgbClr val="4A4F5A"/>
                </a:solidFill>
                <a:latin typeface="Pretendard"/>
              </a:rPr>
              <a:t>· 에이전트가 슬랙에서 실제로 일한다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기록의 최신화는 사람이 의도적으로 공급한다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매일 아침 조간 회의를 일부러 배치</a:t>
            </a:r>
          </a:p>
          <a:p>
            <a:pPr>
              <a:spcAft>
                <a:spcPts val="1400"/>
              </a:spcAft>
            </a:pPr>
            <a:r>
              <a:rPr sz="1900">
                <a:solidFill>
                  <a:srgbClr val="4A4F5A"/>
                </a:solidFill>
                <a:latin typeface="Pretendard"/>
              </a:rPr>
              <a:t>· 각자의 진행 상황과 병목을 토론</a:t>
            </a:r>
          </a:p>
          <a:p>
            <a:pPr>
              <a:spcAft>
                <a:spcPts val="1400"/>
              </a:spcAft>
            </a:pPr>
            <a:r>
              <a:rPr sz="1900">
                <a:solidFill>
                  <a:srgbClr val="4A4F5A"/>
                </a:solidFill>
                <a:latin typeface="Pretendard"/>
              </a:rPr>
              <a:t>· 회의록은 곧바로 슬랙에 적재</a:t>
            </a:r>
          </a:p>
          <a:p>
            <a:pPr>
              <a:spcAft>
                <a:spcPts val="1400"/>
              </a:spcAft>
            </a:pPr>
            <a:r>
              <a:rPr sz="1900">
                <a:solidFill>
                  <a:srgbClr val="4A4F5A"/>
                </a:solidFill>
                <a:latin typeface="Pretendard"/>
              </a:rPr>
              <a:t>· 마크다운과 RAG 양쪽으로 요약 저장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쌓은 데이터로 문서와 산출물이 매일 스스로 갱신된다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SOP를 AI가 매일 마크다운으로 갱신</a:t>
            </a:r>
          </a:p>
          <a:p>
            <a:pPr>
              <a:spcAft>
                <a:spcPts val="1400"/>
              </a:spcAft>
            </a:pPr>
            <a:r>
              <a:rPr sz="1900">
                <a:solidFill>
                  <a:srgbClr val="4A4F5A"/>
                </a:solidFill>
                <a:latin typeface="Pretendard"/>
              </a:rPr>
              <a:t>· 클라이언트·도메인별 문서는 크론으로</a:t>
            </a:r>
          </a:p>
          <a:p>
            <a:pPr>
              <a:spcAft>
                <a:spcPts val="1400"/>
              </a:spcAft>
            </a:pPr>
            <a:r>
              <a:rPr sz="1900">
                <a:solidFill>
                  <a:srgbClr val="4A4F5A"/>
                </a:solidFill>
                <a:latin typeface="Pretendard"/>
              </a:rPr>
              <a:t>· 하네스와 프롬프트를 정비해 품질 조정</a:t>
            </a:r>
          </a:p>
          <a:p>
            <a:pPr>
              <a:spcAft>
                <a:spcPts val="1400"/>
              </a:spcAft>
            </a:pPr>
            <a:r>
              <a:rPr sz="1900">
                <a:solidFill>
                  <a:srgbClr val="4A4F5A"/>
                </a:solidFill>
                <a:latin typeface="Pretendard"/>
              </a:rPr>
              <a:t>· 회사소개서·뉴스레터·세일즈 이메일까지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다음 관문은 거버넌스다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통합 거버넌스 매니저라는 자리</a:t>
            </a:r>
          </a:p>
          <a:p>
            <a:pPr>
              <a:spcAft>
                <a:spcPts val="1400"/>
              </a:spcAft>
            </a:pPr>
            <a:r>
              <a:rPr sz="1900">
                <a:solidFill>
                  <a:srgbClr val="4A4F5A"/>
                </a:solidFill>
                <a:latin typeface="Pretendard"/>
              </a:rPr>
              <a:t>· AI 내규와 윤리, 평가 기준</a:t>
            </a:r>
          </a:p>
          <a:p>
            <a:pPr>
              <a:spcAft>
                <a:spcPts val="1400"/>
              </a:spcAft>
            </a:pPr>
            <a:r>
              <a:rPr sz="1900">
                <a:solidFill>
                  <a:srgbClr val="4A4F5A"/>
                </a:solidFill>
                <a:latin typeface="Pretendard"/>
              </a:rPr>
              <a:t>· 토큰 비용까지 함께 인식할 것</a:t>
            </a:r>
          </a:p>
          <a:p>
            <a:pPr>
              <a:spcAft>
                <a:spcPts val="1400"/>
              </a:spcAft>
            </a:pPr>
            <a:r>
              <a:rPr sz="1900">
                <a:solidFill>
                  <a:srgbClr val="4A4F5A"/>
                </a:solidFill>
                <a:latin typeface="Pretendard"/>
              </a:rPr>
              <a:t>· 데이터를 얼마나 줘도 되는가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실행이 사라진 자리에 남는 것은 의도다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모두가 같은 도구를 쓰게 된다</a:t>
            </a:r>
          </a:p>
          <a:p>
            <a:pPr>
              <a:spcAft>
                <a:spcPts val="1400"/>
              </a:spcAft>
            </a:pPr>
            <a:r>
              <a:rPr sz="1900">
                <a:solidFill>
                  <a:srgbClr val="4A4F5A"/>
                </a:solidFill>
                <a:latin typeface="Pretendard"/>
              </a:rPr>
              <a:t>· 한 사람이 마음먹으면 AI가 길을 찾는다</a:t>
            </a:r>
          </a:p>
          <a:p>
            <a:pPr>
              <a:spcAft>
                <a:spcPts val="1400"/>
              </a:spcAft>
            </a:pPr>
            <a:r>
              <a:rPr sz="1900">
                <a:solidFill>
                  <a:srgbClr val="4A4F5A"/>
                </a:solidFill>
                <a:latin typeface="Pretendard"/>
              </a:rPr>
              <a:t>· 그래서 의도를 감사할 체계가 필요하다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BFC"/>
        </a:solidFill>
        <a:effectLst/>
      </p:bgPr>
    </p:bg>
    <p:spTree>
      <p:nvGrpSpPr>
        <p:cNvPr id="1" name=""/>
        <p:cNvGrpSpPr/>
        <p:nvPr/>
      </p:nvGrpSpPr>
      <p:grpSpPr/>
      <p:sp>
        <p:nvSpPr>
          <p:cNvPr id="2" name="Rectangle 1"/>
          <p:cNvSpPr/>
          <p:nvPr/>
        </p:nvSpPr>
        <p:spPr>
          <a:xfrm>
            <a:off x="822960" y="1371600"/>
            <a:ext cx="1005840" cy="63500"/>
          </a:xfrm>
          <a:prstGeom prst="rect">
            <a:avLst/>
          </a:prstGeom>
          <a:solidFill>
            <a:srgbClr val="2F6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188720"/>
          </a:xfrm>
          <a:prstGeom prst="rect">
            <a:avLst/>
          </a:prstGeom>
          <a:noFill/>
        </p:spPr>
        <p:txBody>
          <a:bodyPr wrap="square" anchor="t">
            <a:spAutoFit/>
          </a:bodyPr>
          <a:lstStyle/>
          <a:p>
            <a:pPr algn="l"/>
            <a:r>
              <a:rPr sz="3000" b="1">
                <a:solidFill>
                  <a:srgbClr val="16181D"/>
                </a:solidFill>
                <a:latin typeface="Pretendard"/>
              </a:rPr>
              <a:t>과거의 나를 죽여야 새 변화에 적응한다</a:t>
            </a:r>
          </a:p>
        </p:txBody>
      </p:sp>
      <p:sp>
        <p:nvSpPr>
          <p:cNvPr id="4" name="TextBox 3"/>
          <p:cNvSpPr txBox="1"/>
          <p:nvPr/>
        </p:nvSpPr>
        <p:spPr>
          <a:xfrm>
            <a:off x="822960" y="3108960"/>
            <a:ext cx="10515600" cy="3108960"/>
          </a:xfrm>
          <a:prstGeom prst="rect">
            <a:avLst/>
          </a:prstGeom>
          <a:noFill/>
        </p:spPr>
        <p:txBody>
          <a:bodyPr wrap="square">
            <a:spAutoFit/>
          </a:bodyPr>
          <a:lstStyle/>
          <a:p>
            <a:pPr>
              <a:spcAft>
                <a:spcPts val="1400"/>
              </a:spcAft>
            </a:pPr>
            <a:r>
              <a:rPr sz="1900">
                <a:solidFill>
                  <a:srgbClr val="4A4F5A"/>
                </a:solidFill>
                <a:latin typeface="Pretendard"/>
              </a:rPr>
              <a:t>· 최전선에 선 사람도 버겁다고 말한다</a:t>
            </a:r>
          </a:p>
          <a:p>
            <a:pPr>
              <a:spcAft>
                <a:spcPts val="1400"/>
              </a:spcAft>
            </a:pPr>
            <a:r>
              <a:rPr sz="1900">
                <a:solidFill>
                  <a:srgbClr val="4A4F5A"/>
                </a:solidFill>
                <a:latin typeface="Pretendard"/>
              </a:rPr>
              <a:t>· 뒤처진다는 감각은 모두의 것이다</a:t>
            </a:r>
          </a:p>
          <a:p>
            <a:pPr>
              <a:spcAft>
                <a:spcPts val="1400"/>
              </a:spcAft>
            </a:pPr>
            <a:r>
              <a:rPr sz="1900">
                <a:solidFill>
                  <a:srgbClr val="4A4F5A"/>
                </a:solidFill>
                <a:latin typeface="Pretendard"/>
              </a:rPr>
              <a:t>· 죽기를 각오하면 산다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