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네이티브 팀이라는 말은 이미 흔해졌지만, 정작 그것이 무엇인지에 대한 정의는 사람마다 다르다. 여기서는 정의에서 출발해 실제 전환 방법, 현장에서 반복되는 오해, 그리고 규모가 큰 조직이 어디서부터 손대야 하는지까지를 순서대로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배휘동이 제시한 정의다. 린스타트업의 빌드-메저-런 사이클은 제품에만 적용되는 것이 아니라 조직과 개인의 삶에도 적용할 수 있고, AI가 그 루프를 도는 일을 도와줄 수 있다. 따라서 AI 네이티브 팀은 구성원 모두가 어떤 주제에서든 AI와 함께 이 루프를 도는 것이 일상화된 팀이며, 동시에 회사가 거버넌스와 비용처럼 그것을 가능하게 하는 환경을 갖춘 팀이다. 두 조건 중 하나만으로는 부족하다.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황현태가 든 사례다. 작년에 합류한 세일즈 매니저 한 명에게 엔지니어링, 마케팅, 영업, 대인 업무를 전부 맡겼고, 그는 코딩 에이전트를 활용해 멀티태스킹하며 리드 발굴부터 딜 클로징, 마무리 보고서, 아웃바운드와 인바운드 세일즈, CS, 개발, 마케팅 소재 제작까지 수행한다. 직무 기술서를 넓힌 것이 아니라, 한 사람이 감당할 수 있는 업무의 종류 자체가 달라진 결과다.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배휘동은 최근 만난 개발자가 프론트엔드 팀 소속이라고 하자 반사적으로 '직군 구분이 있으시군요'라고 되물었다고 한다. 자사에서는 마케팅 담당자도 오퍼레이션 리드도 직접 개발한다. 직군이 사라졌다기보다, 직군으로 사람을 나누는 것이 업무를 설명하는 좋은 방법이 아니게 된 상황이다.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배휘동의 경험이다. 잘하는 소수가 주도하는 세미나와 교육으로는 사람들이 결국 원래 하던 대로 돌아갔다. 대신 리터러시가 높은 사람과 낮은 사람을 짝지어 하루 종일 함께 무언가를 만들게 하는 'AX데이'를 월 1회 열었다. 보안, 비용 절감처럼 테마를 바꿔가며 각자 자기 조직과 개인의 실제 문제를 짝으로 해결하게 했다. 옆에서 지켜보며 효능감과 자신감을 얻은 것이 전환을 만들었다. 배우는 것이 아니라 같이 해보는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황현태가 쓰는 방법이다. AI를 쓰지 않으면 처리할 수 없는 양의 일을 매일 5~6개월간 계속 전달하고, 만족스러운 결과가 나올 때까지 훈련한다. 여기에 'AX타임'이라는 장치를 더한다. 그 시간에는 브라우저도 메신저도 켜지 말고 AI 도구만 쓰게 한다. 본인은 이를 군대 유격 훈련에 비유했다. 자율에 맡기면 익숙한 방식으로 돌아가기 때문에 반강제가 필요하다는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평가와 보상을 어떻게 설계하느냐는 질문에 대한 배휘동의 답이다. 토큰 사용량 기준은 처음 쓰는 사람을 움직이게 하는 초기 유도 효과는 있지만, 월급을 결정하는 기준으로는 나쁘다. 봐야 할 것은 원래 평가했어야 할 지표가 AI 도입 이후 얼마나 개선됐는가다. 개발이라면 피처 리드 타임 단축이나 핫픽스 감소가 그것이다. 새 지표를 만드는 것이 아니라 기존 지표의 변화를 보는 쪽이다.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황현태가 가장 큰 오해로 꼽은 것이다. 엔터프라이즈 고객 대부분이 업무마다 하나씩, 수백 개의 전용 에이전트를 만들어야 한다고 믿는다. 하지만 이미 일할 수 있는 범용 코딩 에이전트가 있는데 '가스 위험성 평가 자동화 에이전트' 같은 특수 에이전트를 따로 만들 이유가 없다. 만들어야 할 것은 에이전트가 아니라, 범용 에이전트가 그 일을 할 수 있게 만드는 환경이다. 특수 에이전트가 쌓이면 무엇이 있는지 인지도 관리도 안 되고, 결국 에이전트 자체에 대한 반감만 남는다.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배휘동이 지적한 오해다. 혼자 쓰는 작은 도구를 만드는 데는 코딩 지식이 정말로 필요 없어졌다. 하지만 팀과 회사, 외부 고객이 돈을 내고 쓰는 제품을 만들려면 개발 지식이 오히려 더 중요해졌다. 비용 관리, 보안, 인프라 설계, 운영 효율, 프론트엔드의 UI와 인터페이스 설계 지식이 여전히 많이 필요하고, 그래야 산재한 제품들 사이에서 돋보일 수 있다. 주니어에게는 바로 이 영역을 더 깊이 공부하라고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황현태의 진단이다. 규모가 큰 조직은 애초에 AI가 없는 상태를 전제로 조직 구성이 설계되고 운영돼 왔다. 그래서 업무 자동화와 효율화 몇 건으로는 변하지 않는다. 대신 각 계층과 직급이 자기 자신을 인핸싱할 지점에 집중해야 한다. 임원은 의사결정을 최적화해주는 에이전트를 세팅하는 데, 아래 계층은 실제 업무 자동화에 집중하는 식으로 층마다 초점이 달라야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배휘동의 답이다. 명시적인 리더가 아니어도 주변에 좋은 영향을 주는 사람을 AX 챔피언으로 키우는 바텀업이 한 축이다. 다만 조직이 커리어업을 지원하지 않거나 보안으로 다 막혀 있으면 챔피언도 아무것도 할 수 없다. 그래서 C레벨이 월 하루를 짝작업에 쓰게 하는 시간 배정, 보안 해제, 비용 같은 결정을 함께 내려주는 탑다운이 다른 한 축이다. 두 축이 동시에 돌아야 변화가 시작된다. 시작할 때는 전사 일괄보다 임팩트가 큰 곳부터 손대서 퍼뜨리는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황현태가 첫 단추로 꼽은 것이 '꼭지점 AX'다. 조직의 꼭지점, 즉 리더가 먼저 AI 네이티브가 되어야 한다. 생각보다 임원들이 잘 하지 않는 경우가 많으므로 리더에게 더 큰 잣대를 들이대야 하며, 리더가 자기 업무의 100%를 AI 도구로 수행하는 AI 네이티브 리더가 된 다음이 조직 전환의 순서다. 배휘동도 탑다운 체계 수립과 리더 자신의 작업 방식 전환이 먼저라며 같은 견해를 밝혔다.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클로드 코드를 만든 개발자가 제시한 다섯 역할 분류다. 빌더, 그로워, 스위퍼, 메인테이너, 프로토타이퍼. 배휘동은 이 분류를 인용하며 직업의 원형이 직군이 아니라 역할로 바뀌고 있다고 본다. 거의 모두가 프로토타이퍼이자 빌더가 되는 동시에, 메인테이너 역량을 갖춘 사람이 플랫폼을 운영하며 나머지를 지원하는 형태가 효과적이라는 것이다. 인프라 지식과 비용 효율을 아는 사람이 그 자리를 맡는다.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네이티브 팀은 도구를 도입한 팀이 아니라 구성원이 AI와 함께 루프를 도는 것이 일상이 된 팀이고, 그 결과 포지션 구분이 흐려진 팀이다. 거기까지 가는 방법은 교육이 아니라 리터러시가 다른 사람들을 짝지어 하루를 통째로 쓰게 하는 것이며, 성과는 토큰 사용량이 아니라 원래 보던 지표로 확인한다. 업무마다 전용 에이전트를 만드는 것은 부채를 쌓는 일이고, 큰 조직에서는 리더가 먼저 바뀌는 꼭지점 AX가 첫 단추다.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19456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560320"/>
            <a:ext cx="10515600" cy="1463040"/>
          </a:xfrm>
          <a:prstGeom prst="rect">
            <a:avLst/>
          </a:prstGeom>
          <a:noFill/>
        </p:spPr>
        <p:txBody>
          <a:bodyPr wrap="square" anchor="t">
            <a:spAutoFit/>
          </a:bodyPr>
          <a:lstStyle/>
          <a:p>
            <a:pPr algn="l"/>
            <a:r>
              <a:rPr sz="4400" b="1">
                <a:solidFill>
                  <a:srgbClr val="16181D"/>
                </a:solidFill>
                <a:latin typeface="Apple SD Gothic Neo"/>
                <a:ea typeface="Apple SD Gothic Neo"/>
                <a:cs typeface="Apple SD Gothic Neo"/>
              </a:rPr>
              <a:t>프론티어 AI 네이티브 팀의 조건, 무엇이 다른가</a:t>
            </a:r>
          </a:p>
        </p:txBody>
      </p:sp>
      <p:sp>
        <p:nvSpPr>
          <p:cNvPr id="4" name="TextBox 3"/>
          <p:cNvSpPr txBox="1"/>
          <p:nvPr/>
        </p:nvSpPr>
        <p:spPr>
          <a:xfrm>
            <a:off x="822960" y="4114800"/>
            <a:ext cx="9601200" cy="1097280"/>
          </a:xfrm>
          <a:prstGeom prst="rect">
            <a:avLst/>
          </a:prstGeom>
          <a:noFill/>
        </p:spPr>
        <p:txBody>
          <a:bodyPr wrap="square" anchor="t">
            <a:spAutoFit/>
          </a:bodyPr>
          <a:lstStyle/>
          <a:p>
            <a:pPr algn="l"/>
            <a:r>
              <a:rPr sz="2000" b="0">
                <a:solidFill>
                  <a:srgbClr val="4A4F5A"/>
                </a:solidFill>
                <a:latin typeface="Apple SD Gothic Neo"/>
                <a:ea typeface="Apple SD Gothic Neo"/>
                <a:cs typeface="Apple SD Gothic Neo"/>
              </a:rPr>
              <a:t>AI 네이티브 팀은 도구 도입이 아니라 포지션 경계를 없애는 짝작업과 리더의 선(先)전환으로 만들어진다</a:t>
            </a:r>
          </a:p>
        </p:txBody>
      </p:sp>
      <p:sp>
        <p:nvSpPr>
          <p:cNvPr id="5" name="TextBox 4"/>
          <p:cNvSpPr txBox="1"/>
          <p:nvPr/>
        </p:nvSpPr>
        <p:spPr>
          <a:xfrm>
            <a:off x="822960" y="5669280"/>
            <a:ext cx="9601200" cy="548640"/>
          </a:xfrm>
          <a:prstGeom prst="rect">
            <a:avLst/>
          </a:prstGeom>
          <a:noFill/>
        </p:spPr>
        <p:txBody>
          <a:bodyPr wrap="square" anchor="t">
            <a:spAutoFit/>
          </a:bodyPr>
          <a:lstStyle/>
          <a:p>
            <a:pPr algn="l"/>
            <a:r>
              <a:rPr sz="1400" b="0">
                <a:solidFill>
                  <a:srgbClr val="4A4F5A"/>
                </a:solidFill>
                <a:latin typeface="Apple SD Gothic Neo"/>
                <a:ea typeface="Apple SD Gothic Neo"/>
                <a:cs typeface="Apple SD Gothic Neo"/>
              </a:rPr>
              <a:t>배휘동 · 황현태 · 김승권(빌더 조슈)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네 가지를 다룬다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AI 네이티브 팀의 정의</a:t>
            </a:r>
          </a:p>
          <a:p>
            <a:pPr>
              <a:spcAft>
                <a:spcPts val="1400"/>
              </a:spcAft>
            </a:pPr>
            <a:r>
              <a:rPr sz="1900" b="0">
                <a:solidFill>
                  <a:srgbClr val="4A4F5A"/>
                </a:solidFill>
                <a:latin typeface="Apple SD Gothic Neo"/>
                <a:ea typeface="Apple SD Gothic Neo"/>
                <a:cs typeface="Apple SD Gothic Neo"/>
              </a:rPr>
              <a:t>· 조직을 바꾸는 방법과 평가</a:t>
            </a:r>
          </a:p>
          <a:p>
            <a:pPr>
              <a:spcAft>
                <a:spcPts val="1400"/>
              </a:spcAft>
            </a:pPr>
            <a:r>
              <a:rPr sz="1900" b="0">
                <a:solidFill>
                  <a:srgbClr val="4A4F5A"/>
                </a:solidFill>
                <a:latin typeface="Apple SD Gothic Neo"/>
                <a:ea typeface="Apple SD Gothic Neo"/>
                <a:cs typeface="Apple SD Gothic Neo"/>
              </a:rPr>
              <a:t>· 가장 흔한 두 가지 오해</a:t>
            </a:r>
          </a:p>
          <a:p>
            <a:pPr>
              <a:spcAft>
                <a:spcPts val="1400"/>
              </a:spcAft>
            </a:pPr>
            <a:r>
              <a:rPr sz="1900" b="0">
                <a:solidFill>
                  <a:srgbClr val="4A4F5A"/>
                </a:solidFill>
                <a:latin typeface="Apple SD Gothic Neo"/>
                <a:ea typeface="Apple SD Gothic Neo"/>
                <a:cs typeface="Apple SD Gothic Neo"/>
              </a:rPr>
              <a:t>· 큰 조직의 첫 단추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AI와 함께 루프를 도는 것이 일상이면 AI 네이티브다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빌드-메저-런을 AI가 함께 돈다</a:t>
            </a:r>
          </a:p>
          <a:p>
            <a:pPr>
              <a:spcAft>
                <a:spcPts val="1400"/>
              </a:spcAft>
            </a:pPr>
            <a:r>
              <a:rPr sz="1900" b="0">
                <a:solidFill>
                  <a:srgbClr val="4A4F5A"/>
                </a:solidFill>
                <a:latin typeface="Apple SD Gothic Neo"/>
                <a:ea typeface="Apple SD Gothic Neo"/>
                <a:cs typeface="Apple SD Gothic Neo"/>
              </a:rPr>
              <a:t>· 제품뿐 아니라 조직과 개인에도</a:t>
            </a:r>
          </a:p>
          <a:p>
            <a:pPr>
              <a:spcAft>
                <a:spcPts val="1400"/>
              </a:spcAft>
            </a:pPr>
            <a:r>
              <a:rPr sz="1900" b="0">
                <a:solidFill>
                  <a:srgbClr val="4A4F5A"/>
                </a:solidFill>
                <a:latin typeface="Apple SD Gothic Neo"/>
                <a:ea typeface="Apple SD Gothic Neo"/>
                <a:cs typeface="Apple SD Gothic Neo"/>
              </a:rPr>
              <a:t>· 구성원 전원의 일상이 될 것</a:t>
            </a:r>
          </a:p>
          <a:p>
            <a:pPr>
              <a:spcAft>
                <a:spcPts val="1400"/>
              </a:spcAft>
            </a:pPr>
            <a:r>
              <a:rPr sz="1900" b="0">
                <a:solidFill>
                  <a:srgbClr val="4A4F5A"/>
                </a:solidFill>
                <a:latin typeface="Apple SD Gothic Neo"/>
                <a:ea typeface="Apple SD Gothic Neo"/>
                <a:cs typeface="Apple SD Gothic Neo"/>
              </a:rPr>
              <a:t>· 회사는 그 환경을 갖출 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AI 네이티브 팀에는 포지션 구분이 없다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세일즈 매니저 한 명이</a:t>
            </a:r>
          </a:p>
          <a:p>
            <a:pPr>
              <a:spcAft>
                <a:spcPts val="1400"/>
              </a:spcAft>
            </a:pPr>
            <a:r>
              <a:rPr sz="1900" b="0">
                <a:solidFill>
                  <a:srgbClr val="4A4F5A"/>
                </a:solidFill>
                <a:latin typeface="Apple SD Gothic Neo"/>
                <a:ea typeface="Apple SD Gothic Neo"/>
                <a:cs typeface="Apple SD Gothic Neo"/>
              </a:rPr>
              <a:t>· 리드 발굴부터 딜 클로징까지</a:t>
            </a:r>
          </a:p>
          <a:p>
            <a:pPr>
              <a:spcAft>
                <a:spcPts val="1400"/>
              </a:spcAft>
            </a:pPr>
            <a:r>
              <a:rPr sz="1900" b="0">
                <a:solidFill>
                  <a:srgbClr val="4A4F5A"/>
                </a:solidFill>
                <a:latin typeface="Apple SD Gothic Neo"/>
                <a:ea typeface="Apple SD Gothic Neo"/>
                <a:cs typeface="Apple SD Gothic Neo"/>
              </a:rPr>
              <a:t>· CS·개발·마케팅 소재까지</a:t>
            </a:r>
          </a:p>
          <a:p>
            <a:pPr>
              <a:spcAft>
                <a:spcPts val="1400"/>
              </a:spcAft>
            </a:pPr>
            <a:r>
              <a:rPr sz="1900" b="0">
                <a:solidFill>
                  <a:srgbClr val="4A4F5A"/>
                </a:solidFill>
                <a:latin typeface="Apple SD Gothic Neo"/>
                <a:ea typeface="Apple SD Gothic Neo"/>
                <a:cs typeface="Apple SD Gothic Neo"/>
              </a:rPr>
              <a:t>· 도구를 병렬로 돌리며 수행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'비개발자'라는 말이 성립하지 않게 됐다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직군 구분 자체가 모호해졌다</a:t>
            </a:r>
          </a:p>
          <a:p>
            <a:pPr>
              <a:spcAft>
                <a:spcPts val="1400"/>
              </a:spcAft>
            </a:pPr>
            <a:r>
              <a:rPr sz="1900" b="0">
                <a:solidFill>
                  <a:srgbClr val="4A4F5A"/>
                </a:solidFill>
                <a:latin typeface="Apple SD Gothic Neo"/>
                <a:ea typeface="Apple SD Gothic Neo"/>
                <a:cs typeface="Apple SD Gothic Neo"/>
              </a:rPr>
              <a:t>· 마케팅 담당자가 직접 개발한다</a:t>
            </a:r>
          </a:p>
          <a:p>
            <a:pPr>
              <a:spcAft>
                <a:spcPts val="1400"/>
              </a:spcAft>
            </a:pPr>
            <a:r>
              <a:rPr sz="1900" b="0">
                <a:solidFill>
                  <a:srgbClr val="4A4F5A"/>
                </a:solidFill>
                <a:latin typeface="Apple SD Gothic Neo"/>
                <a:ea typeface="Apple SD Gothic Neo"/>
                <a:cs typeface="Apple SD Gothic Neo"/>
              </a:rPr>
              <a:t>· 오퍼레이션 리드도 마찬가지</a:t>
            </a:r>
          </a:p>
          <a:p>
            <a:pPr>
              <a:spcAft>
                <a:spcPts val="1400"/>
              </a:spcAft>
            </a:pPr>
            <a:r>
              <a:rPr sz="1900" b="0">
                <a:solidFill>
                  <a:srgbClr val="4A4F5A"/>
                </a:solidFill>
                <a:latin typeface="Apple SD Gothic Neo"/>
                <a:ea typeface="Apple SD Gothic Neo"/>
                <a:cs typeface="Apple SD Gothic Neo"/>
              </a:rPr>
              <a:t>· 구분이 있는 쪽이 되물을 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92608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91840"/>
            <a:ext cx="10515600" cy="1280160"/>
          </a:xfrm>
          <a:prstGeom prst="rect">
            <a:avLst/>
          </a:prstGeom>
          <a:noFill/>
        </p:spPr>
        <p:txBody>
          <a:bodyPr wrap="square" anchor="t">
            <a:spAutoFit/>
          </a:bodyPr>
          <a:lstStyle/>
          <a:p>
            <a:pPr algn="l"/>
            <a:r>
              <a:rPr sz="3400" b="1">
                <a:solidFill>
                  <a:srgbClr val="16181D"/>
                </a:solidFill>
                <a:latin typeface="Apple SD Gothic Neo"/>
                <a:ea typeface="Apple SD Gothic Neo"/>
                <a:cs typeface="Apple SD Gothic Neo"/>
              </a:rPr>
              <a:t>전환은 교육이 아니라 짝작업으로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잘하는 사람이 가르치는 교육은 대부분 실패했다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세미나·교육은 효과가 없었다</a:t>
            </a:r>
          </a:p>
          <a:p>
            <a:pPr>
              <a:spcAft>
                <a:spcPts val="1400"/>
              </a:spcAft>
            </a:pPr>
            <a:r>
              <a:rPr sz="1900" b="0">
                <a:solidFill>
                  <a:srgbClr val="4A4F5A"/>
                </a:solidFill>
                <a:latin typeface="Apple SD Gothic Neo"/>
                <a:ea typeface="Apple SD Gothic Neo"/>
                <a:cs typeface="Apple SD Gothic Neo"/>
              </a:rPr>
              <a:t>· 리터러시 높은 사람과 낮은 사람</a:t>
            </a:r>
          </a:p>
          <a:p>
            <a:pPr>
              <a:spcAft>
                <a:spcPts val="1400"/>
              </a:spcAft>
            </a:pPr>
            <a:r>
              <a:rPr sz="1900" b="0">
                <a:solidFill>
                  <a:srgbClr val="4A4F5A"/>
                </a:solidFill>
                <a:latin typeface="Apple SD Gothic Neo"/>
                <a:ea typeface="Apple SD Gothic Neo"/>
                <a:cs typeface="Apple SD Gothic Neo"/>
              </a:rPr>
              <a:t>· 짝지어 하루를 통째로 쓴다</a:t>
            </a:r>
          </a:p>
          <a:p>
            <a:pPr>
              <a:spcAft>
                <a:spcPts val="1400"/>
              </a:spcAft>
            </a:pPr>
            <a:r>
              <a:rPr sz="1900" b="0">
                <a:solidFill>
                  <a:srgbClr val="4A4F5A"/>
                </a:solidFill>
                <a:latin typeface="Apple SD Gothic Neo"/>
                <a:ea typeface="Apple SD Gothic Neo"/>
                <a:cs typeface="Apple SD Gothic Neo"/>
              </a:rPr>
              <a:t>· 월 1회, 테마를 바꿔가며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AI 없이는 못 끝낼 양의 일을 계속 준다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매일, 몇 달간 지속해서</a:t>
            </a:r>
          </a:p>
          <a:p>
            <a:pPr>
              <a:spcAft>
                <a:spcPts val="1400"/>
              </a:spcAft>
            </a:pPr>
            <a:r>
              <a:rPr sz="1900" b="0">
                <a:solidFill>
                  <a:srgbClr val="4A4F5A"/>
                </a:solidFill>
                <a:latin typeface="Apple SD Gothic Neo"/>
                <a:ea typeface="Apple SD Gothic Neo"/>
                <a:cs typeface="Apple SD Gothic Neo"/>
              </a:rPr>
              <a:t>· 만족스러운 결과가 날 때까지</a:t>
            </a:r>
          </a:p>
          <a:p>
            <a:pPr>
              <a:spcAft>
                <a:spcPts val="1400"/>
              </a:spcAft>
            </a:pPr>
            <a:r>
              <a:rPr sz="1900" b="0">
                <a:solidFill>
                  <a:srgbClr val="4A4F5A"/>
                </a:solidFill>
                <a:latin typeface="Apple SD Gothic Neo"/>
                <a:ea typeface="Apple SD Gothic Neo"/>
                <a:cs typeface="Apple SD Gothic Neo"/>
              </a:rPr>
              <a:t>· 특정 시간엔 다른 도구 금지</a:t>
            </a:r>
          </a:p>
          <a:p>
            <a:pPr>
              <a:spcAft>
                <a:spcPts val="1400"/>
              </a:spcAft>
            </a:pPr>
            <a:r>
              <a:rPr sz="1900" b="0">
                <a:solidFill>
                  <a:srgbClr val="4A4F5A"/>
                </a:solidFill>
                <a:latin typeface="Apple SD Gothic Neo"/>
                <a:ea typeface="Apple SD Gothic Neo"/>
                <a:cs typeface="Apple SD Gothic Neo"/>
              </a:rPr>
              <a:t>· 반강제 장치가 필요하다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토큰 사용량이 아니라 원래 지표로 평가한다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사용량은 초기 유도용일 뿐</a:t>
            </a:r>
          </a:p>
          <a:p>
            <a:pPr>
              <a:spcAft>
                <a:spcPts val="1400"/>
              </a:spcAft>
            </a:pPr>
            <a:r>
              <a:rPr sz="1900" b="0">
                <a:solidFill>
                  <a:srgbClr val="4A4F5A"/>
                </a:solidFill>
                <a:latin typeface="Apple SD Gothic Neo"/>
                <a:ea typeface="Apple SD Gothic Neo"/>
                <a:cs typeface="Apple SD Gothic Neo"/>
              </a:rPr>
              <a:t>· 월급의 기준으로는 나쁘다</a:t>
            </a:r>
          </a:p>
          <a:p>
            <a:pPr>
              <a:spcAft>
                <a:spcPts val="1400"/>
              </a:spcAft>
            </a:pPr>
            <a:r>
              <a:rPr sz="1900" b="0">
                <a:solidFill>
                  <a:srgbClr val="4A4F5A"/>
                </a:solidFill>
                <a:latin typeface="Apple SD Gothic Neo"/>
                <a:ea typeface="Apple SD Gothic Neo"/>
                <a:cs typeface="Apple SD Gothic Neo"/>
              </a:rPr>
              <a:t>· 피처 리드 타임은 줄었는가</a:t>
            </a:r>
          </a:p>
          <a:p>
            <a:pPr>
              <a:spcAft>
                <a:spcPts val="1400"/>
              </a:spcAft>
            </a:pPr>
            <a:r>
              <a:rPr sz="1900" b="0">
                <a:solidFill>
                  <a:srgbClr val="4A4F5A"/>
                </a:solidFill>
                <a:latin typeface="Apple SD Gothic Neo"/>
                <a:ea typeface="Apple SD Gothic Neo"/>
                <a:cs typeface="Apple SD Gothic Neo"/>
              </a:rPr>
              <a:t>· 핫픽스는 줄었는가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92608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91840"/>
            <a:ext cx="10515600" cy="1280160"/>
          </a:xfrm>
          <a:prstGeom prst="rect">
            <a:avLst/>
          </a:prstGeom>
          <a:noFill/>
        </p:spPr>
        <p:txBody>
          <a:bodyPr wrap="square" anchor="t">
            <a:spAutoFit/>
          </a:bodyPr>
          <a:lstStyle/>
          <a:p>
            <a:pPr algn="l"/>
            <a:r>
              <a:rPr sz="3400" b="1">
                <a:solidFill>
                  <a:srgbClr val="16181D"/>
                </a:solidFill>
                <a:latin typeface="Apple SD Gothic Neo"/>
                <a:ea typeface="Apple SD Gothic Neo"/>
                <a:cs typeface="Apple SD Gothic Neo"/>
              </a:rPr>
              <a:t>흔한 오해 두 가지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업무마다 에이전트를 만들면 부채만 남는다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업무 수만큼 전용 에이전트?</a:t>
            </a:r>
          </a:p>
          <a:p>
            <a:pPr>
              <a:spcAft>
                <a:spcPts val="1400"/>
              </a:spcAft>
            </a:pPr>
            <a:r>
              <a:rPr sz="1900" b="0">
                <a:solidFill>
                  <a:srgbClr val="4A4F5A"/>
                </a:solidFill>
                <a:latin typeface="Apple SD Gothic Neo"/>
                <a:ea typeface="Apple SD Gothic Neo"/>
                <a:cs typeface="Apple SD Gothic Neo"/>
              </a:rPr>
              <a:t>· 이미 일하는 범용 에이전트가 있다</a:t>
            </a:r>
          </a:p>
          <a:p>
            <a:pPr>
              <a:spcAft>
                <a:spcPts val="1400"/>
              </a:spcAft>
            </a:pPr>
            <a:r>
              <a:rPr sz="1900" b="0">
                <a:solidFill>
                  <a:srgbClr val="4A4F5A"/>
                </a:solidFill>
                <a:latin typeface="Apple SD Gothic Neo"/>
                <a:ea typeface="Apple SD Gothic Neo"/>
                <a:cs typeface="Apple SD Gothic Neo"/>
              </a:rPr>
              <a:t>· 쌓이면 인지도 관리도 안 된다</a:t>
            </a:r>
          </a:p>
          <a:p>
            <a:pPr>
              <a:spcAft>
                <a:spcPts val="1400"/>
              </a:spcAft>
            </a:pPr>
            <a:r>
              <a:rPr sz="1900" b="0">
                <a:solidFill>
                  <a:srgbClr val="4A4F5A"/>
                </a:solidFill>
                <a:latin typeface="Apple SD Gothic Neo"/>
                <a:ea typeface="Apple SD Gothic Neo"/>
                <a:cs typeface="Apple SD Gothic Neo"/>
              </a:rPr>
              <a:t>· 남는 건 에이전트에 대한 반감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코딩 비용이 0이 됐다는 말은 지식이 필요 없다는 뜻이 아니다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개인용 작은 도구는 정말 그렇다</a:t>
            </a:r>
          </a:p>
          <a:p>
            <a:pPr>
              <a:spcAft>
                <a:spcPts val="1400"/>
              </a:spcAft>
            </a:pPr>
            <a:r>
              <a:rPr sz="1900" b="0">
                <a:solidFill>
                  <a:srgbClr val="4A4F5A"/>
                </a:solidFill>
                <a:latin typeface="Apple SD Gothic Neo"/>
                <a:ea typeface="Apple SD Gothic Neo"/>
                <a:cs typeface="Apple SD Gothic Neo"/>
              </a:rPr>
              <a:t>· 돈 받는 제품은 반대다</a:t>
            </a:r>
          </a:p>
          <a:p>
            <a:pPr>
              <a:spcAft>
                <a:spcPts val="1400"/>
              </a:spcAft>
            </a:pPr>
            <a:r>
              <a:rPr sz="1900" b="0">
                <a:solidFill>
                  <a:srgbClr val="4A4F5A"/>
                </a:solidFill>
                <a:latin typeface="Apple SD Gothic Neo"/>
                <a:ea typeface="Apple SD Gothic Neo"/>
                <a:cs typeface="Apple SD Gothic Neo"/>
              </a:rPr>
              <a:t>· 비용·보안·인프라·운영 효율</a:t>
            </a:r>
          </a:p>
          <a:p>
            <a:pPr>
              <a:spcAft>
                <a:spcPts val="1400"/>
              </a:spcAft>
            </a:pPr>
            <a:r>
              <a:rPr sz="1900" b="0">
                <a:solidFill>
                  <a:srgbClr val="4A4F5A"/>
                </a:solidFill>
                <a:latin typeface="Apple SD Gothic Neo"/>
                <a:ea typeface="Apple SD Gothic Neo"/>
                <a:cs typeface="Apple SD Gothic Neo"/>
              </a:rPr>
              <a:t>· 개발자는 죽지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92608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91840"/>
            <a:ext cx="10515600" cy="1280160"/>
          </a:xfrm>
          <a:prstGeom prst="rect">
            <a:avLst/>
          </a:prstGeom>
          <a:noFill/>
        </p:spPr>
        <p:txBody>
          <a:bodyPr wrap="square" anchor="t">
            <a:spAutoFit/>
          </a:bodyPr>
          <a:lstStyle/>
          <a:p>
            <a:pPr algn="l"/>
            <a:r>
              <a:rPr sz="3400" b="1">
                <a:solidFill>
                  <a:srgbClr val="16181D"/>
                </a:solidFill>
                <a:latin typeface="Apple SD Gothic Neo"/>
                <a:ea typeface="Apple SD Gothic Neo"/>
                <a:cs typeface="Apple SD Gothic Neo"/>
              </a:rPr>
              <a:t>큰 조직의 첫 단추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자동화 몇 개로는 큰 조직이 바뀌지 않는다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AI 없는 전제로 설계된 조직</a:t>
            </a:r>
          </a:p>
          <a:p>
            <a:pPr>
              <a:spcAft>
                <a:spcPts val="1400"/>
              </a:spcAft>
            </a:pPr>
            <a:r>
              <a:rPr sz="1900" b="0">
                <a:solidFill>
                  <a:srgbClr val="4A4F5A"/>
                </a:solidFill>
                <a:latin typeface="Apple SD Gothic Neo"/>
                <a:ea typeface="Apple SD Gothic Neo"/>
                <a:cs typeface="Apple SD Gothic Neo"/>
              </a:rPr>
              <a:t>· 업무 자동화는 표면만 건드린다</a:t>
            </a:r>
          </a:p>
          <a:p>
            <a:pPr>
              <a:spcAft>
                <a:spcPts val="1400"/>
              </a:spcAft>
            </a:pPr>
            <a:r>
              <a:rPr sz="1900" b="0">
                <a:solidFill>
                  <a:srgbClr val="4A4F5A"/>
                </a:solidFill>
                <a:latin typeface="Apple SD Gothic Neo"/>
                <a:ea typeface="Apple SD Gothic Neo"/>
                <a:cs typeface="Apple SD Gothic Neo"/>
              </a:rPr>
              <a:t>· 임원은 의사결정 최적화에</a:t>
            </a:r>
          </a:p>
          <a:p>
            <a:pPr>
              <a:spcAft>
                <a:spcPts val="1400"/>
              </a:spcAft>
            </a:pPr>
            <a:r>
              <a:rPr sz="1900" b="0">
                <a:solidFill>
                  <a:srgbClr val="4A4F5A"/>
                </a:solidFill>
                <a:latin typeface="Apple SD Gothic Neo"/>
                <a:ea typeface="Apple SD Gothic Neo"/>
                <a:cs typeface="Apple SD Gothic Neo"/>
              </a:rPr>
              <a:t>· 실무는 업무 자동화에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바텀업 챔피언과 탑다운 환경은 같이 가야 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주변에 영향 주는 사람을 키운다</a:t>
            </a:r>
          </a:p>
          <a:p>
            <a:pPr>
              <a:spcAft>
                <a:spcPts val="1400"/>
              </a:spcAft>
            </a:pPr>
            <a:r>
              <a:rPr sz="1900" b="0">
                <a:solidFill>
                  <a:srgbClr val="4A4F5A"/>
                </a:solidFill>
                <a:latin typeface="Apple SD Gothic Neo"/>
                <a:ea typeface="Apple SD Gothic Neo"/>
                <a:cs typeface="Apple SD Gothic Neo"/>
              </a:rPr>
              <a:t>· 명시적 리더가 아니어도 좋다</a:t>
            </a:r>
          </a:p>
          <a:p>
            <a:pPr>
              <a:spcAft>
                <a:spcPts val="1400"/>
              </a:spcAft>
            </a:pPr>
            <a:r>
              <a:rPr sz="1900" b="0">
                <a:solidFill>
                  <a:srgbClr val="4A4F5A"/>
                </a:solidFill>
                <a:latin typeface="Apple SD Gothic Neo"/>
                <a:ea typeface="Apple SD Gothic Neo"/>
                <a:cs typeface="Apple SD Gothic Neo"/>
              </a:rPr>
              <a:t>· C레벨은 시간·보안·비용을 푼다</a:t>
            </a:r>
          </a:p>
          <a:p>
            <a:pPr>
              <a:spcAft>
                <a:spcPts val="1400"/>
              </a:spcAft>
            </a:pPr>
            <a:r>
              <a:rPr sz="1900" b="0">
                <a:solidFill>
                  <a:srgbClr val="4A4F5A"/>
                </a:solidFill>
                <a:latin typeface="Apple SD Gothic Neo"/>
                <a:ea typeface="Apple SD Gothic Neo"/>
                <a:cs typeface="Apple SD Gothic Neo"/>
              </a:rPr>
              <a:t>· 전사 일괄보다 임팩트 큰 곳부터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첫 단추는 꼭지점 AX — 리더가 먼저 바뀐다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임원이 생각보다 잘 하지 않는다</a:t>
            </a:r>
          </a:p>
          <a:p>
            <a:pPr>
              <a:spcAft>
                <a:spcPts val="1400"/>
              </a:spcAft>
            </a:pPr>
            <a:r>
              <a:rPr sz="1900" b="0">
                <a:solidFill>
                  <a:srgbClr val="4A4F5A"/>
                </a:solidFill>
                <a:latin typeface="Apple SD Gothic Neo"/>
                <a:ea typeface="Apple SD Gothic Neo"/>
                <a:cs typeface="Apple SD Gothic Neo"/>
              </a:rPr>
              <a:t>· 리더에게 더 큰 잣대를</a:t>
            </a:r>
          </a:p>
          <a:p>
            <a:pPr>
              <a:spcAft>
                <a:spcPts val="1400"/>
              </a:spcAft>
            </a:pPr>
            <a:r>
              <a:rPr sz="1900" b="0">
                <a:solidFill>
                  <a:srgbClr val="4A4F5A"/>
                </a:solidFill>
                <a:latin typeface="Apple SD Gothic Neo"/>
                <a:ea typeface="Apple SD Gothic Neo"/>
                <a:cs typeface="Apple SD Gothic Neo"/>
              </a:rPr>
              <a:t>· 업무의 100%를 AI로</a:t>
            </a:r>
          </a:p>
          <a:p>
            <a:pPr>
              <a:spcAft>
                <a:spcPts val="1400"/>
              </a:spcAft>
            </a:pPr>
            <a:r>
              <a:rPr sz="1900" b="0">
                <a:solidFill>
                  <a:srgbClr val="4A4F5A"/>
                </a:solidFill>
                <a:latin typeface="Apple SD Gothic Neo"/>
                <a:ea typeface="Apple SD Gothic Neo"/>
                <a:cs typeface="Apple SD Gothic Neo"/>
              </a:rPr>
              <a:t>· 그다음이 조직 전환의 순서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직군이 아니라 역할로 재편된다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빌더·그로워·스위퍼</a:t>
            </a:r>
          </a:p>
          <a:p>
            <a:pPr>
              <a:spcAft>
                <a:spcPts val="1400"/>
              </a:spcAft>
            </a:pPr>
            <a:r>
              <a:rPr sz="1900" b="0">
                <a:solidFill>
                  <a:srgbClr val="4A4F5A"/>
                </a:solidFill>
                <a:latin typeface="Apple SD Gothic Neo"/>
                <a:ea typeface="Apple SD Gothic Neo"/>
                <a:cs typeface="Apple SD Gothic Neo"/>
              </a:rPr>
              <a:t>· 메인테이너·프로토타이퍼</a:t>
            </a:r>
          </a:p>
          <a:p>
            <a:pPr>
              <a:spcAft>
                <a:spcPts val="1400"/>
              </a:spcAft>
            </a:pPr>
            <a:r>
              <a:rPr sz="1900" b="0">
                <a:solidFill>
                  <a:srgbClr val="4A4F5A"/>
                </a:solidFill>
                <a:latin typeface="Apple SD Gothic Neo"/>
                <a:ea typeface="Apple SD Gothic Neo"/>
                <a:cs typeface="Apple SD Gothic Neo"/>
              </a:rPr>
              <a:t>· 거의 모두가 프로토타이퍼가 된다</a:t>
            </a:r>
          </a:p>
          <a:p>
            <a:pPr>
              <a:spcAft>
                <a:spcPts val="1400"/>
              </a:spcAft>
            </a:pPr>
            <a:r>
              <a:rPr sz="1900" b="0">
                <a:solidFill>
                  <a:srgbClr val="4A4F5A"/>
                </a:solidFill>
                <a:latin typeface="Apple SD Gothic Neo"/>
                <a:ea typeface="Apple SD Gothic Neo"/>
                <a:cs typeface="Apple SD Gothic Neo"/>
              </a:rPr>
              <a:t>· 메인테이너가 플랫폼을 맡는다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Apple SD Gothic Neo"/>
                <a:ea typeface="Apple SD Gothic Neo"/>
                <a:cs typeface="Apple SD Gothic Neo"/>
              </a:rPr>
              <a:t>정리하면</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b="0">
                <a:solidFill>
                  <a:srgbClr val="4A4F5A"/>
                </a:solidFill>
                <a:latin typeface="Apple SD Gothic Neo"/>
                <a:ea typeface="Apple SD Gothic Neo"/>
                <a:cs typeface="Apple SD Gothic Neo"/>
              </a:rPr>
              <a:t>· 포지션 경계를 지우는 것이 조건</a:t>
            </a:r>
          </a:p>
          <a:p>
            <a:pPr>
              <a:spcAft>
                <a:spcPts val="1400"/>
              </a:spcAft>
            </a:pPr>
            <a:r>
              <a:rPr sz="1900" b="0">
                <a:solidFill>
                  <a:srgbClr val="4A4F5A"/>
                </a:solidFill>
                <a:latin typeface="Apple SD Gothic Neo"/>
                <a:ea typeface="Apple SD Gothic Neo"/>
                <a:cs typeface="Apple SD Gothic Neo"/>
              </a:rPr>
              <a:t>· 교육이 아니라 짝작업으로</a:t>
            </a:r>
          </a:p>
          <a:p>
            <a:pPr>
              <a:spcAft>
                <a:spcPts val="1400"/>
              </a:spcAft>
            </a:pPr>
            <a:r>
              <a:rPr sz="1900" b="0">
                <a:solidFill>
                  <a:srgbClr val="4A4F5A"/>
                </a:solidFill>
                <a:latin typeface="Apple SD Gothic Neo"/>
                <a:ea typeface="Apple SD Gothic Neo"/>
                <a:cs typeface="Apple SD Gothic Neo"/>
              </a:rPr>
              <a:t>· 특수 에이전트를 양산하지 않는다</a:t>
            </a:r>
          </a:p>
          <a:p>
            <a:pPr>
              <a:spcAft>
                <a:spcPts val="1400"/>
              </a:spcAft>
            </a:pPr>
            <a:r>
              <a:rPr sz="1900" b="0">
                <a:solidFill>
                  <a:srgbClr val="4A4F5A"/>
                </a:solidFill>
                <a:latin typeface="Apple SD Gothic Neo"/>
                <a:ea typeface="Apple SD Gothic Neo"/>
                <a:cs typeface="Apple SD Gothic Neo"/>
              </a:rPr>
              <a:t>· 리더가 먼저 전환한다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